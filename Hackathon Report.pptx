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7" r:id="rId1"/>
  </p:sldMasterIdLst>
  <p:sldIdLst>
    <p:sldId id="266" r:id="rId2"/>
    <p:sldId id="257" r:id="rId3"/>
    <p:sldId id="267" r:id="rId4"/>
    <p:sldId id="258" r:id="rId5"/>
    <p:sldId id="259" r:id="rId6"/>
    <p:sldId id="260" r:id="rId7"/>
    <p:sldId id="261" r:id="rId8"/>
    <p:sldId id="263" r:id="rId9"/>
    <p:sldId id="264" r:id="rId10"/>
    <p:sldId id="268" r:id="rId11"/>
    <p:sldId id="269" r:id="rId12"/>
    <p:sldId id="270" r:id="rId13"/>
    <p:sldId id="265"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6829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3163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49942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2602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4469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245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0948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75565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3773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02993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5536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9175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3/6/2026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56613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16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3367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50380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3/6/2026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0388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3/6/2026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2266003"/>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737419"/>
            <a:ext cx="6858000" cy="1398632"/>
          </a:xfrm>
        </p:spPr>
        <p:txBody>
          <a:bodyPr>
            <a:normAutofit fontScale="90000"/>
          </a:bodyPr>
          <a:lstStyle/>
          <a:p>
            <a:r>
              <a:rPr lang="en-US" sz="3200" dirty="0"/>
              <a:t>CN Hackathon-2 </a:t>
            </a:r>
            <a:br>
              <a:rPr lang="en-US" sz="3200" dirty="0"/>
            </a:br>
            <a:br>
              <a:rPr lang="en-US" sz="3200" dirty="0"/>
            </a:br>
            <a:r>
              <a:rPr lang="en-US" sz="3200" dirty="0"/>
              <a:t>The 'Kill-Switch' for Shadow AI</a:t>
            </a:r>
            <a:endParaRPr lang="en-GB" sz="3000" dirty="0"/>
          </a:p>
        </p:txBody>
      </p:sp>
      <p:sp>
        <p:nvSpPr>
          <p:cNvPr id="3" name="Subtitle 2"/>
          <p:cNvSpPr>
            <a:spLocks noGrp="1"/>
          </p:cNvSpPr>
          <p:nvPr>
            <p:ph type="subTitle" idx="1"/>
          </p:nvPr>
        </p:nvSpPr>
        <p:spPr>
          <a:xfrm>
            <a:off x="1143000" y="2313612"/>
            <a:ext cx="6858000" cy="3544584"/>
          </a:xfrm>
        </p:spPr>
        <p:txBody>
          <a:bodyPr>
            <a:normAutofit fontScale="87500" lnSpcReduction="10000"/>
          </a:bodyPr>
          <a:lstStyle/>
          <a:p>
            <a:r>
              <a:rPr lang="en-GB" dirty="0"/>
              <a:t>Presented by:</a:t>
            </a:r>
            <a:br>
              <a:rPr lang="en-GB" dirty="0"/>
            </a:br>
            <a:r>
              <a:rPr lang="en-GB" dirty="0"/>
              <a:t>T. Rama Tejaswi Reddy</a:t>
            </a:r>
          </a:p>
          <a:p>
            <a:r>
              <a:rPr lang="en-GB" dirty="0"/>
              <a:t>V. Venkata Sreeshanth</a:t>
            </a:r>
          </a:p>
          <a:p>
            <a:r>
              <a:rPr lang="en-GB" dirty="0"/>
              <a:t>Of</a:t>
            </a:r>
          </a:p>
          <a:p>
            <a:r>
              <a:rPr lang="en-GB" dirty="0"/>
              <a:t>Section: 5</a:t>
            </a:r>
          </a:p>
          <a:p>
            <a:r>
              <a:rPr lang="en-GB" dirty="0"/>
              <a:t>Under the guidance of</a:t>
            </a:r>
          </a:p>
          <a:p>
            <a:r>
              <a:rPr lang="en-GB" b="1"/>
              <a:t>SHAIK </a:t>
            </a:r>
            <a:r>
              <a:rPr lang="en-GB" b="1" dirty="0"/>
              <a:t>ASIF</a:t>
            </a:r>
          </a:p>
          <a:p>
            <a:endParaRPr lang="en-GB" dirty="0"/>
          </a:p>
          <a:p>
            <a:endParaRPr lang="en-GB" dirty="0"/>
          </a:p>
          <a:p>
            <a:br>
              <a:rPr lang="en-GB" dirty="0"/>
            </a:br>
            <a:r>
              <a:rPr lang="en-GB" dirty="0"/>
              <a:t>KLH University Hyderabad</a:t>
            </a:r>
          </a:p>
        </p:txBody>
      </p:sp>
      <p:pic>
        <p:nvPicPr>
          <p:cNvPr id="9" name="Image 1"/>
          <p:cNvPicPr/>
          <p:nvPr/>
        </p:nvPicPr>
        <p:blipFill>
          <a:blip r:embed="rId2" cstate="print"/>
          <a:stretch>
            <a:fillRect/>
          </a:stretch>
        </p:blipFill>
        <p:spPr>
          <a:xfrm>
            <a:off x="3498770" y="4466367"/>
            <a:ext cx="2146459" cy="8996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a:xfrm>
            <a:off x="594360" y="1769806"/>
            <a:ext cx="7955280" cy="4493834"/>
          </a:xfrm>
        </p:spPr>
        <p:txBody>
          <a:bodyPr>
            <a:normAutofit fontScale="92500" lnSpcReduction="10000"/>
          </a:bodyPr>
          <a:lstStyle/>
          <a:p>
            <a:r>
              <a:rPr lang="en-US" dirty="0"/>
              <a:t>Artificial Intelligence tools such as chatbots and coding assistants are widely used by employees and students to increase productivity. However, many users unknowingly include sensitive information while interacting with these tools.</a:t>
            </a:r>
          </a:p>
          <a:p>
            <a:r>
              <a:rPr lang="en-US" dirty="0"/>
              <a:t>Examples of such information include:</a:t>
            </a:r>
          </a:p>
          <a:p>
            <a:r>
              <a:rPr lang="en-US" dirty="0"/>
              <a:t>• API keys used in applications</a:t>
            </a:r>
            <a:br>
              <a:rPr lang="en-US" dirty="0"/>
            </a:br>
            <a:r>
              <a:rPr lang="en-US" dirty="0"/>
              <a:t>• Passwords and authentication tokens</a:t>
            </a:r>
            <a:br>
              <a:rPr lang="en-US" dirty="0"/>
            </a:br>
            <a:r>
              <a:rPr lang="en-US" dirty="0"/>
              <a:t>• Internal company documents</a:t>
            </a:r>
            <a:br>
              <a:rPr lang="en-US" dirty="0"/>
            </a:br>
            <a:r>
              <a:rPr lang="en-US" dirty="0"/>
              <a:t>• Confidential project data</a:t>
            </a:r>
          </a:p>
          <a:p>
            <a:r>
              <a:rPr lang="en-US" dirty="0"/>
              <a:t>If such information is sent to external AI platforms, it may be stored or used in training datasets, leading to potential security risks.</a:t>
            </a:r>
          </a:p>
          <a:p>
            <a:r>
              <a:rPr lang="en-US" dirty="0"/>
              <a:t>Therefore, organizations need mechanisms to monitor and control the data shared with AI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591C-5849-D9BC-5930-FF0E22C08DBA}"/>
              </a:ext>
            </a:extLst>
          </p:cNvPr>
          <p:cNvSpPr>
            <a:spLocks noGrp="1"/>
          </p:cNvSpPr>
          <p:nvPr>
            <p:ph type="title"/>
          </p:nvPr>
        </p:nvSpPr>
        <p:spPr/>
        <p:txBody>
          <a:bodyPr/>
          <a:lstStyle/>
          <a:p>
            <a:r>
              <a:rPr lang="en-IN" dirty="0"/>
              <a:t>What is Shadow AI</a:t>
            </a:r>
          </a:p>
        </p:txBody>
      </p:sp>
      <p:sp>
        <p:nvSpPr>
          <p:cNvPr id="3" name="Content Placeholder 2">
            <a:extLst>
              <a:ext uri="{FF2B5EF4-FFF2-40B4-BE49-F238E27FC236}">
                <a16:creationId xmlns:a16="http://schemas.microsoft.com/office/drawing/2014/main" id="{BF8F079E-78B9-2B94-016D-9EE0E0FAE72B}"/>
              </a:ext>
            </a:extLst>
          </p:cNvPr>
          <p:cNvSpPr>
            <a:spLocks noGrp="1"/>
          </p:cNvSpPr>
          <p:nvPr>
            <p:ph idx="1"/>
          </p:nvPr>
        </p:nvSpPr>
        <p:spPr/>
        <p:txBody>
          <a:bodyPr/>
          <a:lstStyle/>
          <a:p>
            <a:r>
              <a:rPr lang="en-US" sz="2000" dirty="0"/>
              <a:t>Shadow AI refers to the </a:t>
            </a:r>
            <a:r>
              <a:rPr lang="en-US" sz="2000" b="1" dirty="0"/>
              <a:t>unauthorized or unsupervised use of Artificial Intelligence tools</a:t>
            </a:r>
            <a:r>
              <a:rPr lang="en-US" sz="2000" dirty="0"/>
              <a:t> within an organization.</a:t>
            </a:r>
          </a:p>
          <a:p>
            <a:r>
              <a:rPr lang="en-US" sz="2000" dirty="0"/>
              <a:t>Employees may use external AI services without approval from the IT department.</a:t>
            </a:r>
          </a:p>
          <a:p>
            <a:r>
              <a:rPr lang="en-US" sz="2000" dirty="0"/>
              <a:t>This creates several problems:</a:t>
            </a:r>
          </a:p>
          <a:p>
            <a:r>
              <a:rPr lang="en-US" sz="2000" dirty="0"/>
              <a:t>• Lack of monitoring of AI interactions</a:t>
            </a:r>
            <a:br>
              <a:rPr lang="en-US" sz="2000" dirty="0"/>
            </a:br>
            <a:r>
              <a:rPr lang="en-US" sz="2000" dirty="0"/>
              <a:t>• Unintentional sharing of confidential data</a:t>
            </a:r>
            <a:br>
              <a:rPr lang="en-US" sz="2000" dirty="0"/>
            </a:br>
            <a:r>
              <a:rPr lang="en-US" sz="2000" dirty="0"/>
              <a:t>• Difficulty controlling where sensitive information is stored</a:t>
            </a:r>
          </a:p>
          <a:p>
            <a:r>
              <a:rPr lang="en-US" sz="2000" dirty="0"/>
              <a:t>Shadow AI is becoming a growing cybersecurity concern in many organizations.</a:t>
            </a:r>
          </a:p>
          <a:p>
            <a:endParaRPr lang="en-IN" dirty="0"/>
          </a:p>
        </p:txBody>
      </p:sp>
    </p:spTree>
    <p:extLst>
      <p:ext uri="{BB962C8B-B14F-4D97-AF65-F5344CB8AC3E}">
        <p14:creationId xmlns:p14="http://schemas.microsoft.com/office/powerpoint/2010/main" val="3948405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a:t>
            </a:r>
            <a:r>
              <a:rPr lang="en-IN" dirty="0"/>
              <a:t>Statement</a:t>
            </a:r>
            <a:endParaRPr dirty="0"/>
          </a:p>
        </p:txBody>
      </p:sp>
      <p:sp>
        <p:nvSpPr>
          <p:cNvPr id="3" name="Content Placeholder 2"/>
          <p:cNvSpPr>
            <a:spLocks noGrp="1"/>
          </p:cNvSpPr>
          <p:nvPr>
            <p:ph idx="1"/>
          </p:nvPr>
        </p:nvSpPr>
        <p:spPr>
          <a:xfrm>
            <a:off x="594360" y="2057401"/>
            <a:ext cx="7955280" cy="4206239"/>
          </a:xfrm>
        </p:spPr>
        <p:txBody>
          <a:bodyPr>
            <a:normAutofit/>
          </a:bodyPr>
          <a:lstStyle/>
          <a:p>
            <a:r>
              <a:rPr lang="en-US" sz="2000" dirty="0"/>
              <a:t>Shadow AI refers to the unauthorized use of external AI tools by employees without the approval of an organization’s IT or security team. Employees may paste sensitive information such as passwords, API keys, source code, or confidential documents into tools like ChatGPT or GitHub Copilot to assist with coding, debugging, or analysis. Although these tools improve productivity, they can expose confidential company data to external servers. This creates security risks such as data leakage, credential compromise, and unauthorized access. Therefore, organizations need a system to monitor network traffic and detect or remove sensitive data before it is shared with external AI services.</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297" y="764373"/>
            <a:ext cx="8883937" cy="1293028"/>
          </a:xfrm>
        </p:spPr>
        <p:txBody>
          <a:bodyPr/>
          <a:lstStyle/>
          <a:p>
            <a:r>
              <a:rPr lang="en-US" dirty="0"/>
              <a:t>Security Risks of AI Data Leakage</a:t>
            </a:r>
            <a:endParaRPr dirty="0"/>
          </a:p>
        </p:txBody>
      </p:sp>
      <p:sp>
        <p:nvSpPr>
          <p:cNvPr id="3" name="Content Placeholder 2"/>
          <p:cNvSpPr>
            <a:spLocks noGrp="1"/>
          </p:cNvSpPr>
          <p:nvPr>
            <p:ph idx="1"/>
          </p:nvPr>
        </p:nvSpPr>
        <p:spPr/>
        <p:txBody>
          <a:bodyPr>
            <a:normAutofit/>
          </a:bodyPr>
          <a:lstStyle/>
          <a:p>
            <a:r>
              <a:rPr lang="en-US" sz="2000" dirty="0"/>
              <a:t>If sensitive information is shared with AI systems, attackers may exploit it.</a:t>
            </a:r>
          </a:p>
          <a:p>
            <a:r>
              <a:rPr lang="en-US" sz="2000" dirty="0"/>
              <a:t>Some examples include:</a:t>
            </a:r>
          </a:p>
          <a:p>
            <a:r>
              <a:rPr lang="en-US" sz="2000" dirty="0"/>
              <a:t>• API keys used to access cloud services</a:t>
            </a:r>
            <a:br>
              <a:rPr lang="en-US" sz="2000" dirty="0"/>
            </a:br>
            <a:r>
              <a:rPr lang="en-US" sz="2000" dirty="0"/>
              <a:t>• Passwords and authentication tokens</a:t>
            </a:r>
            <a:br>
              <a:rPr lang="en-US" sz="2000" dirty="0"/>
            </a:br>
            <a:r>
              <a:rPr lang="en-US" sz="2000" dirty="0"/>
              <a:t>• Database connection credentials</a:t>
            </a:r>
            <a:br>
              <a:rPr lang="en-US" sz="2000" dirty="0"/>
            </a:br>
            <a:r>
              <a:rPr lang="en-US" sz="2000" dirty="0"/>
              <a:t>• Internal company documentation</a:t>
            </a:r>
          </a:p>
          <a:p>
            <a:r>
              <a:rPr lang="en-US" sz="2000" dirty="0"/>
              <a:t>These leaks can lead to:</a:t>
            </a:r>
          </a:p>
          <a:p>
            <a:r>
              <a:rPr lang="en-US" sz="2000" dirty="0"/>
              <a:t>• Unauthorized access to systems</a:t>
            </a:r>
            <a:br>
              <a:rPr lang="en-US" sz="2000" dirty="0"/>
            </a:br>
            <a:r>
              <a:rPr lang="en-US" sz="2000" dirty="0"/>
              <a:t>• Data breaches</a:t>
            </a:r>
            <a:br>
              <a:rPr lang="en-US" sz="2000" dirty="0"/>
            </a:br>
            <a:r>
              <a:rPr lang="en-US" sz="2000" dirty="0"/>
              <a:t>• Financial loss</a:t>
            </a:r>
            <a:br>
              <a:rPr lang="en-US" sz="2000" dirty="0"/>
            </a:br>
            <a:r>
              <a:rPr lang="en-US" sz="2000" dirty="0"/>
              <a:t>• Damage to company reputation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Proposed Solution</a:t>
            </a:r>
            <a:endParaRPr dirty="0"/>
          </a:p>
        </p:txBody>
      </p:sp>
      <p:sp>
        <p:nvSpPr>
          <p:cNvPr id="3" name="Content Placeholder 2"/>
          <p:cNvSpPr>
            <a:spLocks noGrp="1"/>
          </p:cNvSpPr>
          <p:nvPr>
            <p:ph idx="1"/>
          </p:nvPr>
        </p:nvSpPr>
        <p:spPr/>
        <p:txBody>
          <a:bodyPr>
            <a:normAutofit/>
          </a:bodyPr>
          <a:lstStyle/>
          <a:p>
            <a:r>
              <a:rPr lang="en-US" sz="2000" dirty="0"/>
              <a:t>To solve this problem, we propose a </a:t>
            </a:r>
            <a:r>
              <a:rPr lang="en-US" sz="2000" b="1" dirty="0"/>
              <a:t>Shadow AI Kill-Switch system</a:t>
            </a:r>
            <a:r>
              <a:rPr lang="en-US" sz="2000" dirty="0"/>
              <a:t>.</a:t>
            </a:r>
          </a:p>
          <a:p>
            <a:r>
              <a:rPr lang="en-US" sz="2000" dirty="0"/>
              <a:t>The system acts as a </a:t>
            </a:r>
            <a:r>
              <a:rPr lang="en-US" sz="2000" b="1" dirty="0"/>
              <a:t>security proxy</a:t>
            </a:r>
            <a:r>
              <a:rPr lang="en-US" sz="2000" dirty="0"/>
              <a:t> between the user and external AI services.</a:t>
            </a:r>
          </a:p>
          <a:p>
            <a:r>
              <a:rPr lang="en-US" sz="2000" dirty="0"/>
              <a:t>Main functions of the system:</a:t>
            </a:r>
          </a:p>
          <a:p>
            <a:r>
              <a:rPr lang="en-US" sz="2000" dirty="0"/>
              <a:t>• Intercept outgoing network traffic</a:t>
            </a:r>
            <a:br>
              <a:rPr lang="en-US" sz="2000" dirty="0"/>
            </a:br>
            <a:r>
              <a:rPr lang="en-US" sz="2000" dirty="0"/>
              <a:t>• Inspect requests for sensitive information</a:t>
            </a:r>
            <a:br>
              <a:rPr lang="en-US" sz="2000" dirty="0"/>
            </a:br>
            <a:r>
              <a:rPr lang="en-US" sz="2000" dirty="0"/>
              <a:t>• Detect patterns like API keys or passwords</a:t>
            </a:r>
            <a:br>
              <a:rPr lang="en-US" sz="2000" dirty="0"/>
            </a:br>
            <a:r>
              <a:rPr lang="en-US" sz="2000" dirty="0"/>
              <a:t>• Replace or remove sensitive data before sending the request</a:t>
            </a:r>
            <a:br>
              <a:rPr lang="en-US" sz="2000" dirty="0"/>
            </a:br>
            <a:r>
              <a:rPr lang="en-US" sz="2000" dirty="0"/>
              <a:t>• Generate alerts when a data leak is detected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System Architecture</a:t>
            </a:r>
            <a:endParaRPr dirty="0"/>
          </a:p>
        </p:txBody>
      </p:sp>
      <p:sp>
        <p:nvSpPr>
          <p:cNvPr id="3" name="Content Placeholder 2"/>
          <p:cNvSpPr>
            <a:spLocks noGrp="1"/>
          </p:cNvSpPr>
          <p:nvPr>
            <p:ph idx="1"/>
          </p:nvPr>
        </p:nvSpPr>
        <p:spPr/>
        <p:txBody>
          <a:bodyPr>
            <a:normAutofit fontScale="92500" lnSpcReduction="10000"/>
          </a:bodyPr>
          <a:lstStyle/>
          <a:p>
            <a:r>
              <a:rPr lang="en-US" dirty="0"/>
              <a:t>The architecture of the system includes three main components:</a:t>
            </a:r>
          </a:p>
          <a:p>
            <a:r>
              <a:rPr lang="en-US" dirty="0"/>
              <a:t>User / Browser</a:t>
            </a:r>
            <a:br>
              <a:rPr lang="en-US" dirty="0"/>
            </a:br>
            <a:r>
              <a:rPr lang="en-US" dirty="0"/>
              <a:t>↓</a:t>
            </a:r>
            <a:br>
              <a:rPr lang="en-US" dirty="0"/>
            </a:br>
            <a:r>
              <a:rPr lang="en-US" dirty="0"/>
              <a:t>Shadow AI Kill-Switch Proxy</a:t>
            </a:r>
            <a:br>
              <a:rPr lang="en-US" dirty="0"/>
            </a:br>
            <a:r>
              <a:rPr lang="en-US" dirty="0"/>
              <a:t>↓</a:t>
            </a:r>
            <a:br>
              <a:rPr lang="en-US" dirty="0"/>
            </a:br>
            <a:r>
              <a:rPr lang="en-US" dirty="0"/>
              <a:t>External AI Service</a:t>
            </a:r>
          </a:p>
          <a:p>
            <a:r>
              <a:rPr lang="en-US" dirty="0"/>
              <a:t>The proxy acts as a </a:t>
            </a:r>
            <a:r>
              <a:rPr lang="en-US" b="1" dirty="0"/>
              <a:t>security gateway</a:t>
            </a:r>
            <a:r>
              <a:rPr lang="en-US" dirty="0"/>
              <a:t>.</a:t>
            </a:r>
          </a:p>
          <a:p>
            <a:r>
              <a:rPr lang="en-US" dirty="0"/>
              <a:t>Responsibilities of the proxy:</a:t>
            </a:r>
          </a:p>
          <a:p>
            <a:r>
              <a:rPr lang="en-US" dirty="0"/>
              <a:t>• Monitor outgoing requests</a:t>
            </a:r>
            <a:br>
              <a:rPr lang="en-US" dirty="0"/>
            </a:br>
            <a:r>
              <a:rPr lang="en-US" dirty="0"/>
              <a:t>• Analyze request contents</a:t>
            </a:r>
            <a:br>
              <a:rPr lang="en-US" dirty="0"/>
            </a:br>
            <a:r>
              <a:rPr lang="en-US" dirty="0"/>
              <a:t>• Remove sensitive information</a:t>
            </a:r>
            <a:br>
              <a:rPr lang="en-US" dirty="0"/>
            </a:br>
            <a:r>
              <a:rPr lang="en-US" dirty="0"/>
              <a:t>• Forward safe requests to the external service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Technologies Used</a:t>
            </a:r>
            <a:endParaRPr dirty="0"/>
          </a:p>
        </p:txBody>
      </p:sp>
      <p:sp>
        <p:nvSpPr>
          <p:cNvPr id="3" name="Content Placeholder 2"/>
          <p:cNvSpPr>
            <a:spLocks noGrp="1"/>
          </p:cNvSpPr>
          <p:nvPr>
            <p:ph idx="1"/>
          </p:nvPr>
        </p:nvSpPr>
        <p:spPr/>
        <p:txBody>
          <a:bodyPr>
            <a:normAutofit/>
          </a:bodyPr>
          <a:lstStyle/>
          <a:p>
            <a:r>
              <a:rPr lang="en-IN" sz="2000" dirty="0"/>
              <a:t>The implementation uses several cybersecurity tools.</a:t>
            </a:r>
          </a:p>
          <a:p>
            <a:r>
              <a:rPr lang="en-IN" sz="2000" dirty="0"/>
              <a:t>Operating System</a:t>
            </a:r>
            <a:br>
              <a:rPr lang="en-IN" sz="2000" dirty="0"/>
            </a:br>
            <a:r>
              <a:rPr lang="en-IN" sz="2000" dirty="0"/>
              <a:t>• Kali Linux (security testing platform)</a:t>
            </a:r>
          </a:p>
          <a:p>
            <a:r>
              <a:rPr lang="en-IN" sz="2000" dirty="0"/>
              <a:t>Programming Language</a:t>
            </a:r>
            <a:br>
              <a:rPr lang="en-IN" sz="2000" dirty="0"/>
            </a:br>
            <a:r>
              <a:rPr lang="en-IN" sz="2000" dirty="0"/>
              <a:t>• Python</a:t>
            </a:r>
          </a:p>
          <a:p>
            <a:r>
              <a:rPr lang="en-IN" sz="2000" dirty="0"/>
              <a:t>Network Monitoring Tool</a:t>
            </a:r>
            <a:br>
              <a:rPr lang="en-IN" sz="2000" dirty="0"/>
            </a:br>
            <a:r>
              <a:rPr lang="en-IN" sz="2000" dirty="0"/>
              <a:t>• </a:t>
            </a:r>
            <a:r>
              <a:rPr lang="en-IN" sz="2000" dirty="0" err="1"/>
              <a:t>mitmproxy</a:t>
            </a:r>
            <a:r>
              <a:rPr lang="en-IN" sz="2000" dirty="0"/>
              <a:t> (intercepts HTTP/HTTPS traffic)</a:t>
            </a:r>
          </a:p>
          <a:p>
            <a:r>
              <a:rPr lang="en-IN" sz="2000" dirty="0"/>
              <a:t>Testing Tools</a:t>
            </a:r>
            <a:br>
              <a:rPr lang="en-IN" sz="2000" dirty="0"/>
            </a:br>
            <a:r>
              <a:rPr lang="en-IN" sz="2000" dirty="0"/>
              <a:t>• curl command line tool</a:t>
            </a:r>
            <a:br>
              <a:rPr lang="en-IN" sz="2000" dirty="0"/>
            </a:br>
            <a:r>
              <a:rPr lang="en-IN" sz="2000" dirty="0"/>
              <a:t>• Web browsers</a:t>
            </a:r>
          </a:p>
          <a:p>
            <a:r>
              <a:rPr lang="en-IN" sz="2000" dirty="0"/>
              <a:t>These tools allow us to simulate and demonstrate real network security monitoring.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Working of the System</a:t>
            </a:r>
            <a:endParaRPr dirty="0"/>
          </a:p>
        </p:txBody>
      </p:sp>
      <p:sp>
        <p:nvSpPr>
          <p:cNvPr id="3" name="Content Placeholder 2"/>
          <p:cNvSpPr>
            <a:spLocks noGrp="1"/>
          </p:cNvSpPr>
          <p:nvPr>
            <p:ph idx="1"/>
          </p:nvPr>
        </p:nvSpPr>
        <p:spPr/>
        <p:txBody>
          <a:bodyPr>
            <a:normAutofit fontScale="92500" lnSpcReduction="20000"/>
          </a:bodyPr>
          <a:lstStyle/>
          <a:p>
            <a:r>
              <a:rPr lang="en-US" dirty="0"/>
              <a:t>The system works in the following steps:</a:t>
            </a:r>
          </a:p>
          <a:p>
            <a:r>
              <a:rPr lang="en-US" dirty="0"/>
              <a:t>Start the proxy server using </a:t>
            </a:r>
            <a:r>
              <a:rPr lang="en-US" dirty="0" err="1"/>
              <a:t>mitmproxy</a:t>
            </a:r>
            <a:endParaRPr lang="en-US" dirty="0"/>
          </a:p>
          <a:p>
            <a:r>
              <a:rPr lang="en-US" dirty="0"/>
              <a:t>Configure the browser or system to route traffic through the proxy</a:t>
            </a:r>
          </a:p>
          <a:p>
            <a:r>
              <a:rPr lang="en-US" dirty="0"/>
              <a:t>Capture outgoing HTTP/HTTPS requests</a:t>
            </a:r>
          </a:p>
          <a:p>
            <a:r>
              <a:rPr lang="en-US" dirty="0"/>
              <a:t>Inspect request body for sensitive patterns such as:</a:t>
            </a:r>
          </a:p>
          <a:p>
            <a:r>
              <a:rPr lang="en-US" dirty="0"/>
              <a:t>• </a:t>
            </a:r>
            <a:r>
              <a:rPr lang="en-US" dirty="0" err="1"/>
              <a:t>api_key</a:t>
            </a:r>
            <a:br>
              <a:rPr lang="en-US" dirty="0"/>
            </a:br>
            <a:r>
              <a:rPr lang="en-US" dirty="0"/>
              <a:t>• password</a:t>
            </a:r>
            <a:br>
              <a:rPr lang="en-US" dirty="0"/>
            </a:br>
            <a:r>
              <a:rPr lang="en-US" dirty="0"/>
              <a:t>• token</a:t>
            </a:r>
            <a:br>
              <a:rPr lang="en-US" dirty="0"/>
            </a:br>
            <a:r>
              <a:rPr lang="en-US" dirty="0"/>
              <a:t>• secret</a:t>
            </a:r>
          </a:p>
          <a:p>
            <a:r>
              <a:rPr lang="en-US" dirty="0"/>
              <a:t>Replace detected data with </a:t>
            </a:r>
            <a:r>
              <a:rPr lang="en-US" b="1" dirty="0"/>
              <a:t>[REDACTED]</a:t>
            </a:r>
            <a:endParaRPr lang="en-US" dirty="0"/>
          </a:p>
          <a:p>
            <a:r>
              <a:rPr lang="en-US" dirty="0"/>
              <a:t>Send sanitized request to the external server</a:t>
            </a:r>
          </a:p>
          <a:p>
            <a:r>
              <a:rPr lang="en-US" dirty="0"/>
              <a:t>Display alert message to indicate a potential data leak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ED36-2066-6F78-8B93-BCA8DF733999}"/>
              </a:ext>
            </a:extLst>
          </p:cNvPr>
          <p:cNvSpPr>
            <a:spLocks noGrp="1"/>
          </p:cNvSpPr>
          <p:nvPr>
            <p:ph type="title"/>
          </p:nvPr>
        </p:nvSpPr>
        <p:spPr/>
        <p:txBody>
          <a:bodyPr/>
          <a:lstStyle/>
          <a:p>
            <a:r>
              <a:rPr lang="en-IN" dirty="0"/>
              <a:t>Example Output</a:t>
            </a:r>
          </a:p>
        </p:txBody>
      </p:sp>
      <p:sp>
        <p:nvSpPr>
          <p:cNvPr id="3" name="Content Placeholder 2">
            <a:extLst>
              <a:ext uri="{FF2B5EF4-FFF2-40B4-BE49-F238E27FC236}">
                <a16:creationId xmlns:a16="http://schemas.microsoft.com/office/drawing/2014/main" id="{FD5A52D3-AF7B-8FDE-ABB5-C6C88E436AB5}"/>
              </a:ext>
            </a:extLst>
          </p:cNvPr>
          <p:cNvSpPr>
            <a:spLocks noGrp="1"/>
          </p:cNvSpPr>
          <p:nvPr>
            <p:ph idx="1"/>
          </p:nvPr>
        </p:nvSpPr>
        <p:spPr/>
        <p:txBody>
          <a:bodyPr/>
          <a:lstStyle/>
          <a:p>
            <a:r>
              <a:rPr lang="en-US" sz="2000" dirty="0"/>
              <a:t>Example input request:</a:t>
            </a:r>
          </a:p>
          <a:p>
            <a:pPr marL="0" indent="0">
              <a:buNone/>
            </a:pPr>
            <a:r>
              <a:rPr lang="en-US" sz="2000" dirty="0"/>
              <a:t>   </a:t>
            </a:r>
            <a:r>
              <a:rPr lang="en-US" sz="2000" dirty="0" err="1"/>
              <a:t>api_key</a:t>
            </a:r>
            <a:r>
              <a:rPr lang="en-US" sz="2000" dirty="0"/>
              <a:t>=ABCD1234&amp;password=secret123</a:t>
            </a:r>
          </a:p>
          <a:p>
            <a:r>
              <a:rPr lang="en-US" sz="2000" dirty="0"/>
              <a:t>After processing by the Kill-Switch:</a:t>
            </a:r>
          </a:p>
          <a:p>
            <a:pPr marL="0" indent="0">
              <a:buNone/>
            </a:pPr>
            <a:r>
              <a:rPr lang="en-US" sz="2000" dirty="0"/>
              <a:t>   [REDACTED]</a:t>
            </a:r>
          </a:p>
          <a:p>
            <a:r>
              <a:rPr lang="en-US" sz="2000" dirty="0"/>
              <a:t>System alert message:</a:t>
            </a:r>
          </a:p>
          <a:p>
            <a:pPr marL="0" indent="0">
              <a:buNone/>
            </a:pPr>
            <a:r>
              <a:rPr lang="en-US" sz="2000" dirty="0"/>
              <a:t>   Sensitive data detected!</a:t>
            </a:r>
            <a:br>
              <a:rPr lang="en-US" sz="2000" dirty="0"/>
            </a:br>
            <a:endParaRPr lang="en-US" sz="2000" dirty="0"/>
          </a:p>
          <a:p>
            <a:pPr marL="0" indent="0">
              <a:buNone/>
            </a:pPr>
            <a:r>
              <a:rPr lang="en-US" sz="2000" dirty="0"/>
              <a:t>This ensures confidential data does not leave the system.</a:t>
            </a:r>
          </a:p>
          <a:p>
            <a:pPr marL="0" indent="0">
              <a:buNone/>
            </a:pPr>
            <a:endParaRPr lang="en-IN" dirty="0"/>
          </a:p>
        </p:txBody>
      </p:sp>
    </p:spTree>
    <p:extLst>
      <p:ext uri="{BB962C8B-B14F-4D97-AF65-F5344CB8AC3E}">
        <p14:creationId xmlns:p14="http://schemas.microsoft.com/office/powerpoint/2010/main" val="629681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34C19BB-9466-CF90-393A-0C12D9A2F177}"/>
              </a:ext>
            </a:extLst>
          </p:cNvPr>
          <p:cNvPicPr>
            <a:picLocks noGrp="1" noChangeAspect="1"/>
          </p:cNvPicPr>
          <p:nvPr>
            <p:ph idx="1"/>
          </p:nvPr>
        </p:nvPicPr>
        <p:blipFill>
          <a:blip r:embed="rId2"/>
          <a:stretch>
            <a:fillRect/>
          </a:stretch>
        </p:blipFill>
        <p:spPr bwMode="auto">
          <a:xfrm>
            <a:off x="593725" y="1662938"/>
            <a:ext cx="7956550" cy="3882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336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97D138-77F1-14C3-4729-23FF723B09DF}"/>
              </a:ext>
            </a:extLst>
          </p:cNvPr>
          <p:cNvPicPr>
            <a:picLocks noGrp="1" noChangeAspect="1"/>
          </p:cNvPicPr>
          <p:nvPr>
            <p:ph idx="1"/>
          </p:nvPr>
        </p:nvPicPr>
        <p:blipFill>
          <a:blip r:embed="rId2"/>
          <a:stretch>
            <a:fillRect/>
          </a:stretch>
        </p:blipFill>
        <p:spPr>
          <a:xfrm>
            <a:off x="593725" y="1420614"/>
            <a:ext cx="7956550" cy="4475559"/>
          </a:xfrm>
          <a:prstGeom prst="rect">
            <a:avLst/>
          </a:prstGeom>
        </p:spPr>
      </p:pic>
    </p:spTree>
    <p:extLst>
      <p:ext uri="{BB962C8B-B14F-4D97-AF65-F5344CB8AC3E}">
        <p14:creationId xmlns:p14="http://schemas.microsoft.com/office/powerpoint/2010/main" val="519473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lang="en-US" sz="2000" dirty="0"/>
              <a:t>The Shadow AI Kill-Switch provides an effective solution to prevent sensitive data leaks when interacting with external AI tools.</a:t>
            </a:r>
          </a:p>
          <a:p>
            <a:r>
              <a:rPr lang="en-US" sz="2000" dirty="0"/>
              <a:t>By intercepting network requests and automatically removing confidential information, the system ensures that sensitive organizational data is protected.</a:t>
            </a:r>
          </a:p>
          <a:p>
            <a:r>
              <a:rPr lang="en-US" sz="2000" dirty="0"/>
              <a:t>This project demonstrates how cybersecurity tools and network monitoring techniques can be used to build a practical </a:t>
            </a:r>
            <a:r>
              <a:rPr lang="en-US" sz="2000" b="1" dirty="0"/>
              <a:t>Data Loss Prevention system</a:t>
            </a:r>
            <a:r>
              <a:rPr lang="en-US" sz="2000" dirty="0"/>
              <a:t>.</a:t>
            </a: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17</TotalTime>
  <Words>801</Words>
  <Application>Microsoft Office PowerPoint</Application>
  <PresentationFormat>On-screen Show (4:3)</PresentationFormat>
  <Paragraphs>70</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Century Gothic</vt:lpstr>
      <vt:lpstr>Vapor Trail</vt:lpstr>
      <vt:lpstr>CN Hackathon-2   The 'Kill-Switch' for Shadow AI</vt:lpstr>
      <vt:lpstr>Introduction</vt:lpstr>
      <vt:lpstr>What is Shadow AI</vt:lpstr>
      <vt:lpstr>Problem Statement</vt:lpstr>
      <vt:lpstr>Security Risks of AI Data Leakage</vt:lpstr>
      <vt:lpstr>Proposed Solution</vt:lpstr>
      <vt:lpstr>System Architecture</vt:lpstr>
      <vt:lpstr>Technologies Used</vt:lpstr>
      <vt:lpstr>Working of the System</vt:lpstr>
      <vt:lpstr>Example Output</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 Tejaswi</dc:creator>
  <dc:description>generated using python-pptx</dc:description>
  <cp:lastModifiedBy>Ram Tejaswi</cp:lastModifiedBy>
  <cp:revision>8</cp:revision>
  <dcterms:created xsi:type="dcterms:W3CDTF">2013-01-27T09:14:00Z</dcterms:created>
  <dcterms:modified xsi:type="dcterms:W3CDTF">2026-03-06T10:02:56Z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AB74F335643741FC9D2BCBC26A1DC321_12</vt:lpwstr>
  </property>
  <property fmtid="{D5CDD505-2E9C-101B-9397-08002B2CF9AE}" pid="3" name="KSOProductBuildVer">
    <vt:lpwstr>2057-12.2.0.23196</vt:lpwstr>
  </property>
</Properties>
</file>